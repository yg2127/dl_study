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7" r:id="rId5"/>
    <p:sldId id="268" r:id="rId6"/>
    <p:sldId id="279" r:id="rId7"/>
    <p:sldId id="276" r:id="rId8"/>
    <p:sldId id="275" r:id="rId9"/>
    <p:sldId id="274" r:id="rId10"/>
    <p:sldId id="278" r:id="rId11"/>
    <p:sldId id="282" r:id="rId12"/>
    <p:sldId id="277" r:id="rId13"/>
    <p:sldId id="28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74424" autoAdjust="0"/>
  </p:normalViewPr>
  <p:slideViewPr>
    <p:cSldViewPr snapToGrid="0">
      <p:cViewPr varScale="1">
        <p:scale>
          <a:sx n="82" d="100"/>
          <a:sy n="82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0D947-0CA7-41F0-BCB5-BE015DE3DC7A}" type="datetimeFigureOut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43D7E0-A644-41B0-A320-3BB3B116ABA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108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978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FAA7-809E-5E0E-4941-E419489F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AD635-AA72-9AC6-A7D1-A9763CBDE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18E248-5159-6147-1FCF-33FB14768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7314E9-1A75-E7FA-E336-4B098DFF7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091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FAA7-809E-5E0E-4941-E419489F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AD635-AA72-9AC6-A7D1-A9763CBDE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18E248-5159-6147-1FCF-33FB14768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7314E9-1A75-E7FA-E336-4B098DFF7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477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FAA7-809E-5E0E-4941-E419489F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AD635-AA72-9AC6-A7D1-A9763CBDE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18E248-5159-6147-1FCF-33FB14768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7314E9-1A75-E7FA-E336-4B098DFF7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3118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FAA7-809E-5E0E-4941-E419489F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AD635-AA72-9AC6-A7D1-A9763CBDE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18E248-5159-6147-1FCF-33FB14768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7314E9-1A75-E7FA-E336-4B098DFF7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473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FAA7-809E-5E0E-4941-E419489F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AD635-AA72-9AC6-A7D1-A9763CBDE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18E248-5159-6147-1FCF-33FB14768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7314E9-1A75-E7FA-E336-4B098DFF7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368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FAA7-809E-5E0E-4941-E419489F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AD635-AA72-9AC6-A7D1-A9763CBDE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18E248-5159-6147-1FCF-33FB14768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7314E9-1A75-E7FA-E336-4B098DFF7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257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FAA7-809E-5E0E-4941-E419489F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AD635-AA72-9AC6-A7D1-A9763CBDE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18E248-5159-6147-1FCF-33FB14768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7314E9-1A75-E7FA-E336-4B098DFF7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070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0FAA7-809E-5E0E-4941-E419489F3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AAD635-AA72-9AC6-A7D1-A9763CBDE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18E248-5159-6147-1FCF-33FB14768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7314E9-1A75-E7FA-E336-4B098DFF78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163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565B0-3213-6361-335B-E17014AAC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C01504-869D-34E9-93CE-4C179D5B81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4E28B5-67A6-201F-A557-C2DB353C5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52B7E0-7E80-5618-797C-521FE841D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43D7E0-A644-41B0-A320-3BB3B116ABA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081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1A400-4181-5E18-AA29-DCA88DB9FC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057595-DE8A-B9E5-4BE8-19E12D535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CDCFCC-8F3B-E531-9728-36A2C4A27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B8ABA-990B-4839-A5CF-E9C60468A1E3}" type="datetimeFigureOut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9F394B-5607-EC5D-933B-AF5AC947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C5852C-17A5-AFC0-6D60-C3A2DB879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9FB81-51BD-494E-9F66-72B38219C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112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8F0C3-F54E-4A6B-AE03-943025AB4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5B7E57E-EFAF-5A5A-4636-2B68C062A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FCDF17-552B-4823-DEC7-E4D79B7742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B8ABA-990B-4839-A5CF-E9C60468A1E3}" type="datetimeFigureOut">
              <a:rPr lang="ko-KR" altLang="en-US" smtClean="0"/>
              <a:t>2025-05-06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8D90C8-D0DD-AF20-E9E9-879622771C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4952FF-B0C4-3236-9F27-17210563F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9FB81-51BD-494E-9F66-72B38219CE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852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AE04B119-0882-9708-DB72-6EA38C619AA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977" y="186393"/>
            <a:ext cx="720000" cy="72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64EF98A-8244-87A2-1295-C92E127935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281635" y="186393"/>
            <a:ext cx="719214" cy="72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317C51-7B27-AEB1-2B38-F3665016C2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5186" y="2436862"/>
            <a:ext cx="109902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</a:t>
            </a:r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주차</a:t>
            </a:r>
            <a:endParaRPr lang="en-US" altLang="ko-KR" sz="2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algn="r"/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Chapter 12, 13, 14 </a:t>
            </a:r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개념과 이론</a:t>
            </a:r>
            <a:endParaRPr lang="en-US" altLang="ko-KR" sz="2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EF5F18-0381-63B7-5459-F9766831AC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491334" y="3564693"/>
            <a:ext cx="954107" cy="4944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이선우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AECE80D-900C-97A8-98F6-8F0A42722D3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V="1">
            <a:off x="797358" y="3403924"/>
            <a:ext cx="10545812" cy="3816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E038ADC-FCCB-A8B5-FBCC-9DEDD9436225}"/>
              </a:ext>
            </a:extLst>
          </p:cNvPr>
          <p:cNvSpPr txBox="1">
            <a:spLocks/>
          </p:cNvSpPr>
          <p:nvPr/>
        </p:nvSpPr>
        <p:spPr>
          <a:xfrm>
            <a:off x="684262" y="2045551"/>
            <a:ext cx="2624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2025-1 </a:t>
            </a:r>
            <a:r>
              <a:rPr lang="ko-KR" altLang="en-US" sz="2000" dirty="0" err="1"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딥러닝스터디</a:t>
            </a:r>
            <a:endParaRPr lang="ko-KR" altLang="en-US" sz="20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7801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A382-6444-F385-E0C7-AEE0E841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F80E4CA2-7FD6-23F1-E799-5A795FF012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B5FA53-D42B-F052-331E-22D4E3CF41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063FCA5-625B-81BA-E5A0-7F5746A49E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34FF257-7470-FF78-BE64-D5BD1C58B4EE}"/>
              </a:ext>
            </a:extLst>
          </p:cNvPr>
          <p:cNvSpPr txBox="1"/>
          <p:nvPr/>
        </p:nvSpPr>
        <p:spPr>
          <a:xfrm>
            <a:off x="391550" y="1342961"/>
            <a:ext cx="11408899" cy="4430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모델평가란 </a:t>
            </a:r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학습이 완료된 모델이 테스트 데이터셋에 대해 추론을 수행한 뒤 예측된 값을 실제 정답과 비교하는 것</a:t>
            </a:r>
            <a:endParaRPr lang="en-US" altLang="ko-KR" sz="2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정성평가와 정량평가</a:t>
            </a:r>
            <a:endParaRPr lang="en-US" altLang="ko-KR" sz="2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  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채점의 명확한 기준이 없는 경우 </a:t>
            </a:r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ex) 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기계</a:t>
            </a:r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번역</a:t>
            </a:r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이미지 생성 등 </a:t>
            </a:r>
            <a:endParaRPr lang="en-US" altLang="ko-KR" sz="1600" b="1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   </a:t>
            </a: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정성평가는 실제 사람이 예측된 결과값을 채점하는 방식</a:t>
            </a:r>
            <a:endParaRPr lang="en-US" altLang="ko-KR" sz="16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   - </a:t>
            </a:r>
            <a:r>
              <a:rPr lang="ko-KR" altLang="en-US" sz="16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정량평가는 컴퓨터에 의한 자동 채점방식으로 정성평가와 비슷할수록 좋은 알고리즘</a:t>
            </a:r>
          </a:p>
        </p:txBody>
      </p:sp>
    </p:spTree>
    <p:extLst>
      <p:ext uri="{BB962C8B-B14F-4D97-AF65-F5344CB8AC3E}">
        <p14:creationId xmlns:p14="http://schemas.microsoft.com/office/powerpoint/2010/main" val="3426009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A382-6444-F385-E0C7-AEE0E841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F80E4CA2-7FD6-23F1-E799-5A795FF012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B5FA53-D42B-F052-331E-22D4E3CF41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063FCA5-625B-81BA-E5A0-7F5746A49E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29AB704-ABE2-9848-8096-7305F50CE6AF}"/>
              </a:ext>
            </a:extLst>
          </p:cNvPr>
          <p:cNvSpPr txBox="1"/>
          <p:nvPr/>
        </p:nvSpPr>
        <p:spPr>
          <a:xfrm>
            <a:off x="358011" y="657915"/>
            <a:ext cx="11408899" cy="5394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ko-KR" sz="2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이진 분류 </a:t>
            </a:r>
            <a:endParaRPr lang="en-US" altLang="ko-KR" sz="2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클래스 수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: 2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각 샘플은 하나의 클래스에만 속함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2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다중 클래스 분류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  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클래스 수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3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개 이상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각 샘플은 하나의 클래스에만 속함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2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514350" indent="-5143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다중 레이블 분류</a:t>
            </a:r>
            <a:endParaRPr lang="en-US" altLang="ko-KR" sz="2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 -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클래스 수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여러 개</a:t>
            </a: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각 샘플이 여러 클래스에 동시에 속할 수 있음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EA642FB-8393-7399-3989-B6C7DB6F9C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6154" y="3517969"/>
            <a:ext cx="4729531" cy="2069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430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A382-6444-F385-E0C7-AEE0E841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F80E4CA2-7FD6-23F1-E799-5A795FF012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B5FA53-D42B-F052-331E-22D4E3CF41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61DA68-0E31-0007-962A-A04B6778E77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5309017" cy="6553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Metrics for Binary Classification</a:t>
            </a:r>
            <a:endParaRPr lang="ko-KR" altLang="en-US" sz="2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063FCA5-625B-81BA-E5A0-7F5746A49E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34FF257-7470-FF78-BE64-D5BD1C58B4EE}"/>
              </a:ext>
            </a:extLst>
          </p:cNvPr>
          <p:cNvSpPr txBox="1"/>
          <p:nvPr/>
        </p:nvSpPr>
        <p:spPr>
          <a:xfrm>
            <a:off x="391549" y="1393136"/>
            <a:ext cx="11408899" cy="767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Accuracy(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정확도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-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모든 예측 중 모델이 맞힌 예측의 비율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71C7656-8E4B-225A-E837-2673E4C275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999" y="1224926"/>
            <a:ext cx="3130711" cy="93349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287E108-59A8-3C07-A2DD-8073B1A69467}"/>
              </a:ext>
            </a:extLst>
          </p:cNvPr>
          <p:cNvSpPr txBox="1"/>
          <p:nvPr/>
        </p:nvSpPr>
        <p:spPr>
          <a:xfrm>
            <a:off x="88306" y="2849194"/>
            <a:ext cx="11408899" cy="542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Accuracy</a:t>
            </a:r>
            <a:r>
              <a:rPr lang="ko-KR" altLang="en-US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는 항상 유용한가</a:t>
            </a:r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?</a:t>
            </a:r>
            <a:endParaRPr lang="ko-KR" altLang="en-US" sz="28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EF6BC8EF-EFE2-3A4D-68FE-5144951EDE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384" y="3602889"/>
            <a:ext cx="7952670" cy="7457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B61B47AF-8E73-58BC-2F72-536468136D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1549" y="4560048"/>
            <a:ext cx="7378013" cy="74572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D90FB1A-037B-98D8-08AB-D16414E4797F}"/>
              </a:ext>
            </a:extLst>
          </p:cNvPr>
          <p:cNvSpPr txBox="1"/>
          <p:nvPr/>
        </p:nvSpPr>
        <p:spPr>
          <a:xfrm>
            <a:off x="305895" y="5745764"/>
            <a:ext cx="8920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결론</a:t>
            </a:r>
            <a:r>
              <a:rPr lang="en-US" altLang="ko-KR" dirty="0"/>
              <a:t>: </a:t>
            </a:r>
            <a:r>
              <a:rPr lang="ko-KR" altLang="en-US" dirty="0" err="1"/>
              <a:t>불균형적인</a:t>
            </a:r>
            <a:r>
              <a:rPr lang="ko-KR" altLang="en-US" dirty="0"/>
              <a:t> 데이터에서는 정확도가 유용하지 않다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9393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A382-6444-F385-E0C7-AEE0E841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F80E4CA2-7FD6-23F1-E799-5A795FF012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B5FA53-D42B-F052-331E-22D4E3CF41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61DA68-0E31-0007-962A-A04B6778E77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5384" y="649960"/>
            <a:ext cx="5455340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Metrics for Multi – class Classification</a:t>
            </a:r>
            <a:endParaRPr lang="ko-KR" altLang="en-US" sz="24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063FCA5-625B-81BA-E5A0-7F5746A49E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95564B0-57A7-36A5-0B19-F10BC0F78174}"/>
              </a:ext>
            </a:extLst>
          </p:cNvPr>
          <p:cNvSpPr txBox="1"/>
          <p:nvPr/>
        </p:nvSpPr>
        <p:spPr>
          <a:xfrm>
            <a:off x="425383" y="1756971"/>
            <a:ext cx="11408899" cy="767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Precision(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정밀도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-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모델이 예측한 것 중 정답을 맞춘 것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0506B0E-8B2E-110E-0FA5-B14E30B45C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3008" y="1756971"/>
            <a:ext cx="3130711" cy="93349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9F5ED10-EB59-2738-63ED-7645C1BA126C}"/>
              </a:ext>
            </a:extLst>
          </p:cNvPr>
          <p:cNvSpPr txBox="1"/>
          <p:nvPr/>
        </p:nvSpPr>
        <p:spPr>
          <a:xfrm>
            <a:off x="425382" y="3056662"/>
            <a:ext cx="11408899" cy="767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Recall(</a:t>
            </a:r>
            <a:r>
              <a:rPr lang="ko-KR" altLang="en-US" sz="20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재현율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)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-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실제 정답 중에 모델이 맞춘 것 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6F9F1F3-FA39-D268-D2F1-CB42E162BD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3008" y="3056662"/>
            <a:ext cx="3130711" cy="93349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AD8B9F4-DA7D-2CF7-9351-2928650BB0B2}"/>
              </a:ext>
            </a:extLst>
          </p:cNvPr>
          <p:cNvSpPr txBox="1"/>
          <p:nvPr/>
        </p:nvSpPr>
        <p:spPr>
          <a:xfrm>
            <a:off x="425382" y="4459063"/>
            <a:ext cx="11408899" cy="767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F1 - Score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-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정밀도와 재현율의 조화평균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BFAC765-8D8D-6AFC-8C97-1A79CE3FBD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03010" y="4529260"/>
            <a:ext cx="3130709" cy="162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7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A382-6444-F385-E0C7-AEE0E841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7AF7D1D-40D9-1C06-43B3-43BC1ABF8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84" y="2860656"/>
            <a:ext cx="5432975" cy="344088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F80E4CA2-7FD6-23F1-E799-5A795FF012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B5FA53-D42B-F052-331E-22D4E3CF41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063FCA5-625B-81BA-E5A0-7F5746A49E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34FF257-7470-FF78-BE64-D5BD1C58B4EE}"/>
              </a:ext>
            </a:extLst>
          </p:cNvPr>
          <p:cNvSpPr txBox="1"/>
          <p:nvPr/>
        </p:nvSpPr>
        <p:spPr>
          <a:xfrm>
            <a:off x="391550" y="1342961"/>
            <a:ext cx="11408899" cy="877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ko-KR" altLang="en-US" sz="28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오버피팅</a:t>
            </a:r>
            <a:r>
              <a:rPr lang="en-US" altLang="ko-KR" sz="28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?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- </a:t>
            </a:r>
            <a:r>
              <a:rPr lang="ko-KR" altLang="en-US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학습 데이터에 너무 과하게 맞춰져서 새로운 데이터에 대한 일반화 성능 하락</a:t>
            </a:r>
            <a:endParaRPr lang="en-US" altLang="ko-KR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D35FF-65E5-E132-D3EB-DCB35A6721EE}"/>
              </a:ext>
            </a:extLst>
          </p:cNvPr>
          <p:cNvSpPr txBox="1"/>
          <p:nvPr/>
        </p:nvSpPr>
        <p:spPr>
          <a:xfrm>
            <a:off x="6095999" y="2743199"/>
            <a:ext cx="5329721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/>
              <a:t>오버피팅을</a:t>
            </a:r>
            <a:r>
              <a:rPr lang="ko-KR" altLang="en-US" sz="2800" dirty="0"/>
              <a:t> 판단할 때 주의할 점</a:t>
            </a:r>
            <a:endParaRPr lang="en-US" altLang="ko-KR" sz="2800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b="1" dirty="0"/>
              <a:t>학습이 끝나지 않은 순간일 수 있다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   &gt; </a:t>
            </a:r>
            <a:r>
              <a:rPr lang="ko-KR" altLang="en-US" dirty="0"/>
              <a:t>일정 시점 이후가 되어야 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b="1" dirty="0"/>
              <a:t>테스트</a:t>
            </a:r>
            <a:r>
              <a:rPr lang="en-US" altLang="ko-KR" b="1" dirty="0"/>
              <a:t>/</a:t>
            </a:r>
            <a:r>
              <a:rPr lang="ko-KR" altLang="en-US" b="1" dirty="0"/>
              <a:t>검증 데이터셋의 손실이 일시적으로 증가하는 현상이 있을 수 있다</a:t>
            </a:r>
            <a:r>
              <a:rPr lang="en-US" altLang="ko-KR" b="1" dirty="0"/>
              <a:t>. 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en-US" altLang="ko-KR" dirty="0"/>
              <a:t>   &gt; </a:t>
            </a:r>
            <a:r>
              <a:rPr lang="ko-KR" altLang="en-US" dirty="0"/>
              <a:t>일시적인 아닌 지속적으로 테스트</a:t>
            </a:r>
            <a:r>
              <a:rPr lang="en-US" altLang="ko-KR" dirty="0"/>
              <a:t>/</a:t>
            </a:r>
            <a:r>
              <a:rPr lang="ko-KR" altLang="en-US" dirty="0"/>
              <a:t>검증 </a:t>
            </a:r>
            <a:endParaRPr lang="en-US" altLang="ko-KR" dirty="0"/>
          </a:p>
          <a:p>
            <a:r>
              <a:rPr lang="en-US" altLang="ko-KR" dirty="0"/>
              <a:t>     </a:t>
            </a:r>
            <a:r>
              <a:rPr lang="ko-KR" altLang="en-US" dirty="0"/>
              <a:t>데이터셋에 대한 손실이 증가하는 지 </a:t>
            </a:r>
            <a:endParaRPr lang="en-US" altLang="ko-KR" dirty="0"/>
          </a:p>
          <a:p>
            <a:r>
              <a:rPr lang="en-US" altLang="ko-KR" dirty="0"/>
              <a:t>     </a:t>
            </a:r>
            <a:r>
              <a:rPr lang="ko-KR" altLang="en-US" dirty="0"/>
              <a:t>확인해 야</a:t>
            </a:r>
            <a:r>
              <a:rPr lang="en-US" altLang="ko-KR" dirty="0"/>
              <a:t> 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554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A382-6444-F385-E0C7-AEE0E841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F80E4CA2-7FD6-23F1-E799-5A795FF012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B5FA53-D42B-F052-331E-22D4E3CF41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61DA68-0E31-0007-962A-A04B6778E779}"/>
              </a:ext>
            </a:extLst>
          </p:cNvPr>
          <p:cNvSpPr txBox="1">
            <a:spLocks/>
          </p:cNvSpPr>
          <p:nvPr/>
        </p:nvSpPr>
        <p:spPr>
          <a:xfrm>
            <a:off x="155384" y="649960"/>
            <a:ext cx="2864887" cy="574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다양한 정규화 방법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063FCA5-625B-81BA-E5A0-7F5746A49E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D7602104-4EE8-26FC-FD07-2337D64D81D7}"/>
              </a:ext>
            </a:extLst>
          </p:cNvPr>
          <p:cNvSpPr/>
          <p:nvPr/>
        </p:nvSpPr>
        <p:spPr>
          <a:xfrm>
            <a:off x="4383437" y="1224926"/>
            <a:ext cx="1921790" cy="64317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정규화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A3DC85C-A93C-B39E-0DDE-B2D3349FCEDE}"/>
              </a:ext>
            </a:extLst>
          </p:cNvPr>
          <p:cNvSpPr/>
          <p:nvPr/>
        </p:nvSpPr>
        <p:spPr>
          <a:xfrm>
            <a:off x="457201" y="2619216"/>
            <a:ext cx="1921790" cy="6431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데이터를 통한 정규화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2EBE50B-0089-B5D6-B085-2C442238A7BF}"/>
              </a:ext>
            </a:extLst>
          </p:cNvPr>
          <p:cNvSpPr/>
          <p:nvPr/>
        </p:nvSpPr>
        <p:spPr>
          <a:xfrm>
            <a:off x="2998636" y="2619216"/>
            <a:ext cx="1921790" cy="6431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손실 함수를 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통한 정규화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4135D27D-2CCF-887F-65D6-EEF7777F66B6}"/>
              </a:ext>
            </a:extLst>
          </p:cNvPr>
          <p:cNvSpPr/>
          <p:nvPr/>
        </p:nvSpPr>
        <p:spPr>
          <a:xfrm>
            <a:off x="5540071" y="2619215"/>
            <a:ext cx="1921790" cy="6431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신경망 계층을 통한 정규화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6BDF71C-2ED8-176C-E281-AB278B8DCC21}"/>
              </a:ext>
            </a:extLst>
          </p:cNvPr>
          <p:cNvSpPr/>
          <p:nvPr/>
        </p:nvSpPr>
        <p:spPr>
          <a:xfrm>
            <a:off x="8081506" y="2619214"/>
            <a:ext cx="2031138" cy="6431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학습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추론 방식을 통한 정규화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8ECF279-2F69-A33D-19B0-12C1E9D5DD7A}"/>
              </a:ext>
            </a:extLst>
          </p:cNvPr>
          <p:cNvSpPr/>
          <p:nvPr/>
        </p:nvSpPr>
        <p:spPr>
          <a:xfrm>
            <a:off x="679885" y="3820331"/>
            <a:ext cx="1474380" cy="488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데이터 증강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BCB113B-DE08-7A1E-EC8B-2062A2A34B46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flipH="1">
            <a:off x="1418096" y="1868103"/>
            <a:ext cx="3926236" cy="751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BEBDF1A4-6BE9-2AF3-9292-4287E619C71E}"/>
              </a:ext>
            </a:extLst>
          </p:cNvPr>
          <p:cNvCxnSpPr>
            <a:cxnSpLocks/>
            <a:stCxn id="3" idx="2"/>
            <a:endCxn id="12" idx="0"/>
          </p:cNvCxnSpPr>
          <p:nvPr/>
        </p:nvCxnSpPr>
        <p:spPr>
          <a:xfrm flipH="1">
            <a:off x="3959531" y="1868103"/>
            <a:ext cx="1384801" cy="751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DCC95FE-5D07-1524-DA3E-201467FA7B78}"/>
              </a:ext>
            </a:extLst>
          </p:cNvPr>
          <p:cNvCxnSpPr>
            <a:cxnSpLocks/>
            <a:stCxn id="3" idx="2"/>
            <a:endCxn id="13" idx="0"/>
          </p:cNvCxnSpPr>
          <p:nvPr/>
        </p:nvCxnSpPr>
        <p:spPr>
          <a:xfrm>
            <a:off x="5344332" y="1868103"/>
            <a:ext cx="1156634" cy="7511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B3001E42-2319-3983-814C-9126B1D657AF}"/>
              </a:ext>
            </a:extLst>
          </p:cNvPr>
          <p:cNvCxnSpPr>
            <a:cxnSpLocks/>
            <a:stCxn id="3" idx="2"/>
            <a:endCxn id="14" idx="0"/>
          </p:cNvCxnSpPr>
          <p:nvPr/>
        </p:nvCxnSpPr>
        <p:spPr>
          <a:xfrm>
            <a:off x="5344332" y="1868103"/>
            <a:ext cx="3752743" cy="7511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3D42741-9416-A490-5B24-42F7D2EEFD44}"/>
              </a:ext>
            </a:extLst>
          </p:cNvPr>
          <p:cNvCxnSpPr>
            <a:cxnSpLocks/>
            <a:stCxn id="6" idx="2"/>
            <a:endCxn id="15" idx="0"/>
          </p:cNvCxnSpPr>
          <p:nvPr/>
        </p:nvCxnSpPr>
        <p:spPr>
          <a:xfrm flipH="1">
            <a:off x="1417075" y="3262393"/>
            <a:ext cx="1021" cy="557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73D8E5E-3C80-F8D6-1F71-3B98C9A83700}"/>
              </a:ext>
            </a:extLst>
          </p:cNvPr>
          <p:cNvSpPr/>
          <p:nvPr/>
        </p:nvSpPr>
        <p:spPr>
          <a:xfrm>
            <a:off x="3229498" y="3835828"/>
            <a:ext cx="1474380" cy="488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가중치 감쇠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D4E005BE-31F6-C4A2-FA0F-71C1E0DC2F42}"/>
              </a:ext>
            </a:extLst>
          </p:cNvPr>
          <p:cNvCxnSpPr>
            <a:cxnSpLocks/>
            <a:endCxn id="35" idx="1"/>
          </p:cNvCxnSpPr>
          <p:nvPr/>
        </p:nvCxnSpPr>
        <p:spPr>
          <a:xfrm>
            <a:off x="5693585" y="4079926"/>
            <a:ext cx="229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C254205A-B94A-EB25-7B9E-0841FBF8774D}"/>
              </a:ext>
            </a:extLst>
          </p:cNvPr>
          <p:cNvSpPr/>
          <p:nvPr/>
        </p:nvSpPr>
        <p:spPr>
          <a:xfrm>
            <a:off x="5922649" y="3835828"/>
            <a:ext cx="1474380" cy="488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드롭 아웃</a:t>
            </a: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B40E59E8-47D2-0658-B98E-82BF2162C73F}"/>
              </a:ext>
            </a:extLst>
          </p:cNvPr>
          <p:cNvCxnSpPr>
            <a:cxnSpLocks/>
          </p:cNvCxnSpPr>
          <p:nvPr/>
        </p:nvCxnSpPr>
        <p:spPr>
          <a:xfrm>
            <a:off x="5693585" y="3273505"/>
            <a:ext cx="0" cy="3204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B0A3F711-7786-876F-1FF2-E9CC3D697642}"/>
              </a:ext>
            </a:extLst>
          </p:cNvPr>
          <p:cNvCxnSpPr>
            <a:cxnSpLocks/>
            <a:endCxn id="43" idx="1"/>
          </p:cNvCxnSpPr>
          <p:nvPr/>
        </p:nvCxnSpPr>
        <p:spPr>
          <a:xfrm>
            <a:off x="5693585" y="4909593"/>
            <a:ext cx="229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76F48CD-6C08-CCF5-8F74-160B05DDC602}"/>
              </a:ext>
            </a:extLst>
          </p:cNvPr>
          <p:cNvSpPr/>
          <p:nvPr/>
        </p:nvSpPr>
        <p:spPr>
          <a:xfrm>
            <a:off x="5922649" y="4665495"/>
            <a:ext cx="1474380" cy="488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배치정규화</a:t>
            </a:r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8006F0F3-1781-5A04-9D33-7717EE7C7B23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5693585" y="5877172"/>
            <a:ext cx="229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77BA06C0-0927-427A-894B-6C83817CBB1B}"/>
              </a:ext>
            </a:extLst>
          </p:cNvPr>
          <p:cNvSpPr/>
          <p:nvPr/>
        </p:nvSpPr>
        <p:spPr>
          <a:xfrm>
            <a:off x="5922649" y="5633074"/>
            <a:ext cx="1474380" cy="488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계층정규화</a:t>
            </a:r>
          </a:p>
        </p:txBody>
      </p: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217D9AC7-0FE6-A3C3-FA1F-0218873EFCEA}"/>
              </a:ext>
            </a:extLst>
          </p:cNvPr>
          <p:cNvCxnSpPr>
            <a:cxnSpLocks/>
          </p:cNvCxnSpPr>
          <p:nvPr/>
        </p:nvCxnSpPr>
        <p:spPr>
          <a:xfrm>
            <a:off x="8343795" y="3262391"/>
            <a:ext cx="0" cy="32047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7AF964A2-3CAD-69D2-12E3-FD3E1A1A925E}"/>
              </a:ext>
            </a:extLst>
          </p:cNvPr>
          <p:cNvCxnSpPr>
            <a:cxnSpLocks/>
            <a:endCxn id="48" idx="1"/>
          </p:cNvCxnSpPr>
          <p:nvPr/>
        </p:nvCxnSpPr>
        <p:spPr>
          <a:xfrm>
            <a:off x="8343794" y="4072176"/>
            <a:ext cx="229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871BAF9B-9755-2198-ADEA-52D3E5B6E6A8}"/>
              </a:ext>
            </a:extLst>
          </p:cNvPr>
          <p:cNvSpPr/>
          <p:nvPr/>
        </p:nvSpPr>
        <p:spPr>
          <a:xfrm>
            <a:off x="8572858" y="3828078"/>
            <a:ext cx="1474380" cy="488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학습 조기 종료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2146DD33-CEFE-159A-D100-5A7D3D48CFAD}"/>
              </a:ext>
            </a:extLst>
          </p:cNvPr>
          <p:cNvCxnSpPr>
            <a:cxnSpLocks/>
            <a:endCxn id="50" idx="1"/>
          </p:cNvCxnSpPr>
          <p:nvPr/>
        </p:nvCxnSpPr>
        <p:spPr>
          <a:xfrm>
            <a:off x="8343794" y="5397789"/>
            <a:ext cx="2290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AF81DE6A-D4B9-64F0-D8DA-86A5C16585FF}"/>
              </a:ext>
            </a:extLst>
          </p:cNvPr>
          <p:cNvSpPr/>
          <p:nvPr/>
        </p:nvSpPr>
        <p:spPr>
          <a:xfrm>
            <a:off x="8572858" y="5153691"/>
            <a:ext cx="1474380" cy="4881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배깅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&amp; </a:t>
            </a:r>
            <a:r>
              <a:rPr lang="ko-KR" altLang="en-US" sz="1400" dirty="0">
                <a:solidFill>
                  <a:schemeClr val="tx1"/>
                </a:solidFill>
              </a:rPr>
              <a:t>앙상블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709515CA-3B47-7192-87E8-2B4A8DB48E48}"/>
              </a:ext>
            </a:extLst>
          </p:cNvPr>
          <p:cNvCxnSpPr>
            <a:cxnSpLocks/>
          </p:cNvCxnSpPr>
          <p:nvPr/>
        </p:nvCxnSpPr>
        <p:spPr>
          <a:xfrm flipH="1">
            <a:off x="3966688" y="3262393"/>
            <a:ext cx="1021" cy="557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245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A382-6444-F385-E0C7-AEE0E841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F80E4CA2-7FD6-23F1-E799-5A795FF012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B5FA53-D42B-F052-331E-22D4E3CF41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063FCA5-625B-81BA-E5A0-7F5746A49E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E306FD9-9FC5-2F10-8CB0-D8FF69B88B0F}"/>
              </a:ext>
            </a:extLst>
          </p:cNvPr>
          <p:cNvSpPr txBox="1"/>
          <p:nvPr/>
        </p:nvSpPr>
        <p:spPr>
          <a:xfrm>
            <a:off x="155384" y="1248878"/>
            <a:ext cx="11408899" cy="3921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ko-KR" altLang="en-US" sz="2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데이터를  통한 정규화</a:t>
            </a:r>
            <a:endParaRPr lang="en-US" altLang="ko-KR" sz="2000" b="1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-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증강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훈련 데이터를 조금씩 변형해서 새로운 데이터를 만드는 방법</a:t>
            </a: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ko-KR" altLang="en-US" sz="2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손실함수를 통한 정규화</a:t>
            </a:r>
            <a:endParaRPr lang="en-US" altLang="ko-KR" sz="2000" b="1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000" b="1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2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-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가중치 감쇠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가중치의 크기를 제한하는 제약 조건</a:t>
            </a: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lang="en-US" altLang="ko-KR" b="1" dirty="0">
              <a:solidFill>
                <a:srgbClr val="FF00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ADF81E6-DF6F-ACA0-16F5-86636B2B0B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287" y="2077604"/>
            <a:ext cx="5258070" cy="116846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F9D5CA8-2B5E-B622-13C2-D5BDDA5138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2287" y="4993118"/>
            <a:ext cx="5859061" cy="153546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4872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A382-6444-F385-E0C7-AEE0E841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F80E4CA2-7FD6-23F1-E799-5A795FF012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B5FA53-D42B-F052-331E-22D4E3CF413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6063FCA5-625B-81BA-E5A0-7F5746A49E4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6FF0054-EC1F-6C26-FC68-C3C4C70B8713}"/>
              </a:ext>
            </a:extLst>
          </p:cNvPr>
          <p:cNvSpPr txBox="1"/>
          <p:nvPr/>
        </p:nvSpPr>
        <p:spPr>
          <a:xfrm>
            <a:off x="155384" y="962160"/>
            <a:ext cx="11408899" cy="5368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ko-KR" altLang="en-US" sz="2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신경망 계층을 통한 정규화</a:t>
            </a:r>
            <a:r>
              <a:rPr lang="en-US" altLang="ko-KR" sz="2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-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드롭 아웃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미니배치를 실행할 때마다 뉴런을 랜덤하게 잘라내는 방법</a:t>
            </a: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하나의 신경망 모델에서 무한히 많은 모델을 생성하는 </a:t>
            </a:r>
            <a:r>
              <a:rPr lang="ko-KR" altLang="en-US" sz="20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배깅과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같다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계산 시간이 거의 들지 않고 다양한 모델에 쉽게 적용할 수 있다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</a:t>
            </a:r>
            <a:r>
              <a:rPr lang="ko-KR" altLang="en-US" sz="20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드롭아웃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vs </a:t>
            </a:r>
            <a:r>
              <a:rPr lang="ko-KR" altLang="en-US" sz="20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배깅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20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배깅은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서로 독립된 모델을 병렬로 실행해서 예측 오차를 줄이지만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20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드롭아웃은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모델 간에 파라미터를 공유하기 때문에 모델 간 상관성이 생긴다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따라서 모델 간의 독립성을 전제로 하는 </a:t>
            </a:r>
            <a:r>
              <a:rPr lang="ko-KR" altLang="en-US" sz="20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배깅보다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더 좋은 성능을 갖긴 힘들다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하지만 </a:t>
            </a:r>
            <a:r>
              <a:rPr lang="ko-KR" altLang="en-US" sz="20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배깅보다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실용적이다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</a:t>
            </a:r>
          </a:p>
          <a:p>
            <a:pPr marL="139700" lvl="0">
              <a:lnSpc>
                <a:spcPct val="115000"/>
              </a:lnSpc>
              <a:buSzPts val="1400"/>
            </a:pPr>
            <a:r>
              <a:rPr lang="en-US" altLang="ko-KR" sz="2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-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배치 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/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계층 정규화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데이터를 일정한 분포로 조정하는 정규화를 배치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계층 단위로 하는 방법</a:t>
            </a: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lang="en-US" altLang="ko-KR" sz="2000" b="1" dirty="0">
              <a:solidFill>
                <a:srgbClr val="FF00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000" b="1" dirty="0">
                <a:solidFill>
                  <a:srgbClr val="FF00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</a:t>
            </a:r>
            <a:r>
              <a:rPr lang="ko-KR" altLang="en-US" sz="2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정규화의 필요성</a:t>
            </a:r>
            <a:r>
              <a:rPr lang="en-US" altLang="ko-KR" sz="2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2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내부 </a:t>
            </a:r>
            <a:r>
              <a:rPr lang="ko-KR" altLang="en-US" sz="2000" b="1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공변량</a:t>
            </a:r>
            <a:r>
              <a:rPr lang="ko-KR" altLang="en-US" sz="2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변화로 인해 하위 계층의 작은 변화가 상위 계층에 큰 영향을 준다</a:t>
            </a:r>
            <a:r>
              <a:rPr lang="en-US" altLang="ko-KR" sz="2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  <a:endParaRPr lang="en-US" altLang="ko-KR" b="1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C4DEA7F-E9FD-C69F-B40F-7D2411F71D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4028" y="1006611"/>
            <a:ext cx="3054507" cy="164473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4329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299D2-5728-1460-7FB3-F5A969E7B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블랙, 어둠이(가) 표시된 사진&#10;&#10;자동 생성된 설명">
            <a:extLst>
              <a:ext uri="{FF2B5EF4-FFF2-40B4-BE49-F238E27FC236}">
                <a16:creationId xmlns:a16="http://schemas.microsoft.com/office/drawing/2014/main" id="{26B84965-B382-4BBF-02EF-F2FFD7C252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384" y="117915"/>
            <a:ext cx="540000" cy="540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45225EF-AB8D-C1D1-1E63-F0D30E6707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90" b="97423" l="6992" r="96911">
                        <a14:foregroundMark x1="12520" y1="27491" x2="12520" y2="27491"/>
                        <a14:foregroundMark x1="43415" y1="35395" x2="43415" y2="35395"/>
                        <a14:foregroundMark x1="7154" y1="43986" x2="7154" y2="43986"/>
                        <a14:foregroundMark x1="80000" y1="11684" x2="80000" y2="11684"/>
                        <a14:foregroundMark x1="96911" y1="46392" x2="96911" y2="46392"/>
                        <a14:foregroundMark x1="55285" y1="97423" x2="55285" y2="97423"/>
                        <a14:foregroundMark x1="49268" y1="1890" x2="49268" y2="1890"/>
                        <a14:foregroundMark x1="13496" y1="56014" x2="13496" y2="56014"/>
                        <a14:foregroundMark x1="13496" y1="47251" x2="13496" y2="47251"/>
                        <a14:foregroundMark x1="14634" y1="42440" x2="14634" y2="42440"/>
                        <a14:foregroundMark x1="17236" y1="35739" x2="17236" y2="35739"/>
                        <a14:foregroundMark x1="17886" y1="32646" x2="17886" y2="32646"/>
                        <a14:foregroundMark x1="53008" y1="58935" x2="53008" y2="58935"/>
                        <a14:foregroundMark x1="53171" y1="53608" x2="53171" y2="53608"/>
                        <a14:foregroundMark x1="50732" y1="48454" x2="50732" y2="48454"/>
                        <a14:foregroundMark x1="45041" y1="52062" x2="45041" y2="52062"/>
                        <a14:foregroundMark x1="52033" y1="45533" x2="52033" y2="45533"/>
                        <a14:foregroundMark x1="50407" y1="49656" x2="50407" y2="49656"/>
                        <a14:foregroundMark x1="52520" y1="48282" x2="52520" y2="48282"/>
                        <a14:foregroundMark x1="48130" y1="44674" x2="48130" y2="44674"/>
                        <a14:foregroundMark x1="46179" y1="47595" x2="46179" y2="47595"/>
                        <a14:foregroundMark x1="44228" y1="48969" x2="57398" y2="44674"/>
                        <a14:foregroundMark x1="57398" y1="44674" x2="43252" y2="45361"/>
                        <a14:foregroundMark x1="43252" y1="45361" x2="57724" y2="53093"/>
                        <a14:foregroundMark x1="57724" y1="53093" x2="60163" y2="41581"/>
                        <a14:foregroundMark x1="28618" y1="14777" x2="34797" y2="13230"/>
                        <a14:foregroundMark x1="58211" y1="7904" x2="43902" y2="10481"/>
                        <a14:foregroundMark x1="43902" y1="10481" x2="82927" y2="18900"/>
                        <a14:foregroundMark x1="82927" y1="18900" x2="89268" y2="49485"/>
                        <a14:foregroundMark x1="18374" y1="30928" x2="23252" y2="24399"/>
                        <a14:foregroundMark x1="41951" y1="67010" x2="55122" y2="68213"/>
                        <a14:foregroundMark x1="55122" y1="68213" x2="60488" y2="67354"/>
                        <a14:foregroundMark x1="34797" y1="33162" x2="74797" y2="42268"/>
                      </a14:backgroundRemoval>
                    </a14:imgEffect>
                  </a14:imgLayer>
                </a14:imgProps>
              </a:ext>
            </a:extLst>
          </a:blip>
          <a:srcRect l="5373" t="736" r="1683" b="941"/>
          <a:stretch/>
        </p:blipFill>
        <p:spPr>
          <a:xfrm>
            <a:off x="11497205" y="117915"/>
            <a:ext cx="539411" cy="540000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DB78F81-8580-12C2-5DF5-732EA918D49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76199" y="702365"/>
            <a:ext cx="9270000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2AB8CAC-2435-914B-881D-4E904930989C}"/>
              </a:ext>
            </a:extLst>
          </p:cNvPr>
          <p:cNvSpPr txBox="1"/>
          <p:nvPr/>
        </p:nvSpPr>
        <p:spPr>
          <a:xfrm>
            <a:off x="155384" y="962160"/>
            <a:ext cx="11408899" cy="5368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ko-KR" altLang="en-US" sz="2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학습 </a:t>
            </a:r>
            <a:r>
              <a:rPr lang="en-US" altLang="ko-KR" sz="2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/ </a:t>
            </a:r>
            <a:r>
              <a:rPr lang="ko-KR" altLang="en-US" sz="2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추론 방식을 통한 정규화</a:t>
            </a:r>
            <a:endParaRPr lang="en-US" altLang="ko-KR" sz="2000" b="1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-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학습 조기 종료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모델이 과적합되기 전에 훈련을 멈추는 정규화 기법</a:t>
            </a: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 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조기 종료 기준</a:t>
            </a: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신경망을 학습할 때 단계마다 미니배치로 근사한 </a:t>
            </a:r>
            <a:r>
              <a:rPr lang="ko-KR" altLang="en-US" sz="20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그레이디언트는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실제 </a:t>
            </a:r>
            <a:r>
              <a:rPr lang="ko-KR" altLang="en-US" sz="20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그레이디언트와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차이가 있으므로 성능이 조금씩 좋았다 나빠졌다 할 수 있다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따라서 모델의 성능이 향상하지 않더라도 바로 종료하면 안된다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일시적인 성능 변동이 아닌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,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지속적인 성능의 정체 또는 하락이 판단되면 그때 종료한다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 - </a:t>
            </a:r>
            <a:r>
              <a:rPr lang="ko-KR" altLang="en-US" sz="2000" dirty="0" err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배깅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&amp;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앙상블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: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독립된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여러 모델을 실행해서 하나의 강한 모델을 만드는 방법</a:t>
            </a: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endParaRPr lang="en-US" altLang="ko-KR" sz="2000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독립이 아닌 모델을 사용한다면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?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모델이 독립이 아니라면 비슷한 결과를 낸다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 </a:t>
            </a:r>
          </a:p>
          <a:p>
            <a:pPr marL="139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</a:pPr>
            <a:r>
              <a:rPr lang="ko-KR" altLang="en-US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즉 협력할 이유가 없다</a:t>
            </a:r>
            <a:r>
              <a:rPr lang="en-US" altLang="ko-KR" sz="2000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8AD426A-80CE-D69E-9108-E2D00F2F47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1931" y="4891920"/>
            <a:ext cx="4471520" cy="174135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81144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BDEE8323A701A94E84F6C6256C0785E3" ma:contentTypeVersion="4" ma:contentTypeDescription="새 문서를 만듭니다." ma:contentTypeScope="" ma:versionID="1732501790e058fd976f4dec6a73fa4d">
  <xsd:schema xmlns:xsd="http://www.w3.org/2001/XMLSchema" xmlns:xs="http://www.w3.org/2001/XMLSchema" xmlns:p="http://schemas.microsoft.com/office/2006/metadata/properties" xmlns:ns3="c82519a0-c5ed-48c9-8c99-b972c57ceecf" targetNamespace="http://schemas.microsoft.com/office/2006/metadata/properties" ma:root="true" ma:fieldsID="1f4d1805ef4cf520005b8d3e10a8f0e7" ns3:_="">
    <xsd:import namespace="c82519a0-c5ed-48c9-8c99-b972c57ceec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2519a0-c5ed-48c9-8c99-b972c57cee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B2AF890-73B7-49AE-A5F6-D24E9616561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AC91D5-0D24-4FCD-9EBE-33DEF9F6E401}">
  <ds:schemaRefs>
    <ds:schemaRef ds:uri="http://www.w3.org/XML/1998/namespace"/>
    <ds:schemaRef ds:uri="c82519a0-c5ed-48c9-8c99-b972c57ceecf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CBC01B1-44B7-4455-AE05-6DF60F32AA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2519a0-c5ed-48c9-8c99-b972c57cee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1021</TotalTime>
  <Words>549</Words>
  <Application>Microsoft Office PowerPoint</Application>
  <PresentationFormat>와이드스크린</PresentationFormat>
  <Paragraphs>106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KoPubWorld돋움체 Bold</vt:lpstr>
      <vt:lpstr>KoPubWorld돋움체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박동현</dc:creator>
  <cp:lastModifiedBy>선우 이</cp:lastModifiedBy>
  <cp:revision>71</cp:revision>
  <dcterms:created xsi:type="dcterms:W3CDTF">2023-11-08T08:25:48Z</dcterms:created>
  <dcterms:modified xsi:type="dcterms:W3CDTF">2025-05-06T11:39:43Z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0x010100BDEE8323A701A94E84F6C6256C0785E3</vt:lpwstr>
  </property>
</Properties>
</file>